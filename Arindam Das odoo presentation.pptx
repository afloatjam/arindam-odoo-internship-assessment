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5" r:id="rId5"/>
    <p:sldId id="276" r:id="rId6"/>
    <p:sldId id="27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4" r:id="rId15"/>
    <p:sldId id="266" r:id="rId16"/>
    <p:sldId id="268" r:id="rId17"/>
    <p:sldId id="269" r:id="rId18"/>
    <p:sldId id="271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D64E58-FA36-46F9-9C8D-7DB134F5771C}" v="5" dt="2026-08-17T08:29:05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8482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 Internship Assessment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46920" y="64739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Arindam Das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3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4" y="0"/>
            <a:ext cx="12191695" cy="6858000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65760"/>
            <a:ext cx="3840480" cy="3840480"/>
          </a:xfrm>
          <a:prstGeom prst="arc">
            <a:avLst/>
          </a:prstGeom>
          <a:solidFill>
            <a:srgbClr val="153B5C">
              <a:alpha val="0"/>
            </a:srgbClr>
          </a:solidFill>
          <a:ln w="25400">
            <a:solidFill>
              <a:srgbClr val="2A567A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170432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Odoo Internship</a:t>
            </a:r>
            <a:endParaRPr lang="en-US" sz="4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</a:t>
            </a:r>
            <a:endParaRPr lang="en-US" sz="4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86384" y="25420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Functional • AI • Basic Development</a:t>
            </a:r>
          </a:p>
        </p:txBody>
      </p:sp>
      <p:sp>
        <p:nvSpPr>
          <p:cNvPr id="7" name="Shape 5"/>
          <p:cNvSpPr/>
          <p:nvPr/>
        </p:nvSpPr>
        <p:spPr>
          <a:xfrm>
            <a:off x="786384" y="3127248"/>
            <a:ext cx="4206240" cy="0"/>
          </a:xfrm>
          <a:prstGeom prst="line">
            <a:avLst/>
          </a:prstGeom>
          <a:noFill/>
          <a:ln w="29210">
            <a:solidFill>
              <a:srgbClr val="F2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355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Demo Company: Arindam Enterprise</a:t>
            </a:r>
            <a:endParaRPr lang="en-US" sz="2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Prepared by Arindam Das</a:t>
            </a:r>
          </a:p>
        </p:txBody>
      </p:sp>
      <p:sp>
        <p:nvSpPr>
          <p:cNvPr id="10" name="Shape 8"/>
          <p:cNvSpPr/>
          <p:nvPr/>
        </p:nvSpPr>
        <p:spPr>
          <a:xfrm>
            <a:off x="786384" y="4892040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928616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70% Functional</a:t>
            </a:r>
            <a:endParaRPr lang="en-US" sz="10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40280" y="4892040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4928616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20% AI</a:t>
            </a:r>
            <a:endParaRPr lang="en-US" sz="10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55264" y="4892040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7357A6"/>
          </a:solidFill>
          <a:ln w="12700">
            <a:solidFill>
              <a:srgbClr val="7357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49286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10% Development</a:t>
            </a:r>
            <a:endParaRPr lang="en-US" sz="10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6384" y="5623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5-Day Learning &amp; Practical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What the five-day assessment covered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3401568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72768"/>
            <a:ext cx="3401568" cy="109728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470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3B5C"/>
                </a:solidFill>
              </a:rPr>
              <a:t>Odoo Functional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54964" y="2422125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083"/>
                </a:solidFill>
              </a:rPr>
              <a:t>CRM • Sales • Purchase • Inventory • Invoicing • Project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1572768"/>
            <a:ext cx="3401568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572768"/>
            <a:ext cx="3401568" cy="109728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8470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3B5C"/>
                </a:solidFill>
              </a:rPr>
              <a:t>AI Learning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76572" y="23591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083"/>
                </a:solidFill>
              </a:rPr>
              <a:t>AI concepts • prompts • verification • responsible use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572768"/>
            <a:ext cx="3401568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572768"/>
            <a:ext cx="3401568" cy="109728"/>
          </a:xfrm>
          <a:prstGeom prst="rect">
            <a:avLst/>
          </a:prstGeom>
          <a:solidFill>
            <a:srgbClr val="7357A6"/>
          </a:solidFill>
          <a:ln w="12700">
            <a:solidFill>
              <a:srgbClr val="7357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18470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3B5C"/>
                </a:solidFill>
              </a:rPr>
              <a:t>Basic Development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94192" y="2330685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083"/>
                </a:solidFill>
              </a:rPr>
              <a:t>Module structure • Python • XML • ORM • access rights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005072"/>
            <a:ext cx="10844784" cy="822960"/>
          </a:xfrm>
          <a:prstGeom prst="roundRect">
            <a:avLst>
              <a:gd name="adj" fmla="val 6667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005072"/>
            <a:ext cx="73152" cy="822960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114800"/>
            <a:ext cx="10570464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</a:rPr>
              <a:t>Objective: demonstrate practical business-process understanding, learning ability, problem solving, communication and responsible AI use.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965960" y="5257800"/>
            <a:ext cx="160568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0824" y="5413248"/>
            <a:ext cx="14959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Learn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44798" y="5257800"/>
            <a:ext cx="160568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99662" y="5413248"/>
            <a:ext cx="14959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Configure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23637" y="5257800"/>
            <a:ext cx="160568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8501" y="5413248"/>
            <a:ext cx="14959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Execute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02475" y="5257800"/>
            <a:ext cx="160568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7339" y="5413248"/>
            <a:ext cx="14959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Verify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1314" y="5257800"/>
            <a:ext cx="1605686" cy="658368"/>
          </a:xfrm>
          <a:prstGeom prst="roundRect">
            <a:avLst>
              <a:gd name="adj" fmla="val 11111"/>
            </a:avLst>
          </a:prstGeom>
          <a:solidFill>
            <a:srgbClr val="0E8B8B"/>
          </a:solidFill>
          <a:ln w="13970">
            <a:solidFill>
              <a:srgbClr val="0E8B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6178" y="5413248"/>
            <a:ext cx="14959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Explain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Company &amp; Master 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Core setup evidence from the Odoo demo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MASTER DATA</a:t>
            </a:r>
            <a:endParaRPr lang="en-US" sz="900" dirty="0"/>
          </a:p>
        </p:txBody>
      </p:sp>
      <p:pic>
        <p:nvPicPr>
          <p:cNvPr id="7" name="Image 0" descr="/mnt/data/01_Company_Setup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7" y="1444752"/>
            <a:ext cx="9810649" cy="4299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10957" y="5417216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Company configuration — Arindam Enterprise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66928" y="6016752"/>
            <a:ext cx="73152" cy="310896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22376" y="6126480"/>
            <a:ext cx="1073505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A37"/>
                </a:solidFill>
              </a:rPr>
              <a:t>Configured company basics, customer/vendor contacts, products, categories and employees.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4B5DC8-3976-65AC-1791-A22391B08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46" y="3409795"/>
            <a:ext cx="8231220" cy="3020852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74408152-3319-5031-0195-1A30DAD49616}"/>
              </a:ext>
            </a:extLst>
          </p:cNvPr>
          <p:cNvSpPr/>
          <p:nvPr/>
        </p:nvSpPr>
        <p:spPr>
          <a:xfrm>
            <a:off x="2257188" y="5931795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Customer/contact list</a:t>
            </a:r>
            <a:endParaRPr lang="en-US" sz="9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E55914-4EC3-B749-00B3-284873377E7B}"/>
              </a:ext>
            </a:extLst>
          </p:cNvPr>
          <p:cNvSpPr txBox="1"/>
          <p:nvPr/>
        </p:nvSpPr>
        <p:spPr>
          <a:xfrm>
            <a:off x="9083616" y="270474"/>
            <a:ext cx="28725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Contact creation &amp; contact list:</a:t>
            </a:r>
          </a:p>
          <a:p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/>
              <a:t>Contacts are one of the most essential part in Odoo.</a:t>
            </a:r>
          </a:p>
          <a:p>
            <a:r>
              <a:rPr lang="en-IN" dirty="0"/>
              <a:t>We need many important contacts like customers and vendors to run Odoo functions.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85B833-486B-1009-4F3F-D29AE4F79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38" y="270474"/>
            <a:ext cx="8307237" cy="3071934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DAFEADA-1B63-8122-B986-E19A684CF1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63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35B02-0D28-BBD5-1087-939CCBAE0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53" y="3316856"/>
            <a:ext cx="8872492" cy="27186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DA63BD-4382-CDCD-EB7A-F76D2DE35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669" y="5907518"/>
            <a:ext cx="5486876" cy="256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4A70EC-1BDF-7A94-12E9-82D5EB566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53" y="274688"/>
            <a:ext cx="8872492" cy="29141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483AE5-9D41-8C20-D275-A2C4D9603E74}"/>
              </a:ext>
            </a:extLst>
          </p:cNvPr>
          <p:cNvSpPr txBox="1"/>
          <p:nvPr/>
        </p:nvSpPr>
        <p:spPr>
          <a:xfrm>
            <a:off x="9319404" y="270474"/>
            <a:ext cx="26885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Product creation &amp; inventory overview:</a:t>
            </a:r>
          </a:p>
          <a:p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/>
              <a:t>products are one of the most essential part in Odoo.</a:t>
            </a:r>
          </a:p>
          <a:p>
            <a:r>
              <a:rPr lang="en-IN" dirty="0"/>
              <a:t>We need them to sell for profit ,as without a product a company is just a shell.</a:t>
            </a:r>
          </a:p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F07259A-83DE-12A2-D1A0-9FD2B50687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39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7E113-D81A-6103-B673-64BDA9021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15" y="3249744"/>
            <a:ext cx="8113894" cy="2881527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AB2D7744-798A-7C28-71DF-2616A1E50CD3}"/>
              </a:ext>
            </a:extLst>
          </p:cNvPr>
          <p:cNvSpPr/>
          <p:nvPr/>
        </p:nvSpPr>
        <p:spPr>
          <a:xfrm>
            <a:off x="1905747" y="5911815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37083"/>
                </a:solidFill>
              </a:rPr>
              <a:t>Employees including Sales / Purchase roles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25DF76-2E50-3899-7612-85E05AED1BAD}"/>
              </a:ext>
            </a:extLst>
          </p:cNvPr>
          <p:cNvSpPr txBox="1"/>
          <p:nvPr/>
        </p:nvSpPr>
        <p:spPr>
          <a:xfrm>
            <a:off x="9146876" y="309987"/>
            <a:ext cx="26885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Employee creation &amp; Employee List:</a:t>
            </a:r>
          </a:p>
          <a:p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/>
              <a:t>Employees are one of the most essential part in Odoo.</a:t>
            </a:r>
          </a:p>
          <a:p>
            <a:r>
              <a:rPr lang="en-IN" dirty="0"/>
              <a:t>We need them to properly manage and run the business, some key applications include CRM.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9BCA5B-DE70-FA28-198F-4C7E98E80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15" y="150786"/>
            <a:ext cx="8200159" cy="3006482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A206A0F-28E9-D24C-6CE2-E5FF712619A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32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From lead qualification to a won opportunity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133856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12689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481328"/>
            <a:ext cx="2017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Lead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40126" y="1325880"/>
            <a:ext cx="212689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2017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Opportunity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0173" y="1325880"/>
            <a:ext cx="212689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5037" y="1481328"/>
            <a:ext cx="2017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Qualified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40219" y="1325880"/>
            <a:ext cx="212689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95083" y="1481328"/>
            <a:ext cx="2017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Quotation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40266" y="1325880"/>
            <a:ext cx="2126894" cy="658368"/>
          </a:xfrm>
          <a:prstGeom prst="roundRect">
            <a:avLst>
              <a:gd name="adj" fmla="val 11111"/>
            </a:avLst>
          </a:prstGeom>
          <a:solidFill>
            <a:srgbClr val="0E8B8B"/>
          </a:solidFill>
          <a:ln w="13970">
            <a:solidFill>
              <a:srgbClr val="0E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95130" y="1481328"/>
            <a:ext cx="2017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2212848"/>
            <a:ext cx="5541264" cy="2478024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11430">
            <a:solidFill>
              <a:srgbClr val="D6DEE7"/>
            </a:solidFill>
            <a:prstDash val="solid"/>
          </a:ln>
          <a:effectLst>
            <a:outerShdw blurRad="12700" dist="50800" dir="2700000" algn="bl" rotWithShape="0">
              <a:srgbClr val="AAB5C1">
                <a:alpha val="14000"/>
              </a:srgbClr>
            </a:outerShdw>
          </a:effectLst>
        </p:spPr>
      </p:sp>
      <p:pic>
        <p:nvPicPr>
          <p:cNvPr id="17" name="Image 0" descr="/mnt/data/opertun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5486400" cy="24231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47274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Opportunity with expected revenue, salesperson and expected closing date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63640" y="2212848"/>
            <a:ext cx="5340096" cy="2478024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11430">
            <a:solidFill>
              <a:srgbClr val="D6DEE7"/>
            </a:solidFill>
            <a:prstDash val="solid"/>
          </a:ln>
          <a:effectLst>
            <a:outerShdw blurRad="12700" dist="50800" dir="2700000" algn="bl" rotWithShape="0">
              <a:srgbClr val="AAB5C1">
                <a:alpha val="14000"/>
              </a:srgbClr>
            </a:outerShdw>
          </a:effectLst>
        </p:spPr>
      </p:sp>
      <p:pic>
        <p:nvPicPr>
          <p:cNvPr id="20" name="Image 1" descr="/mnt/data/w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240280"/>
            <a:ext cx="5285232" cy="24231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91072" y="4727448"/>
            <a:ext cx="5285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Opportunity marked Won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13232" y="5010912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77824" y="4919472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</a:rPr>
              <a:t>Lead = initial potential customer information; Opportunity = qualified sales possibility.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713232" y="5394960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77824" y="5303520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</a:rPr>
              <a:t>Salesperson assignment, expected revenue, closing date and follow-up activities support pipeline management.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13232" y="5779008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77824" y="5687568"/>
            <a:ext cx="10533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</a:rPr>
              <a:t>The opportunity moves through stages and can generate a quotation; after successful sales confirmation it can be marked Won.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End-to-end customer order 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1201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0560" y="1135668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Quotation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45613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0477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Sales Order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32858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7722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Delivery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0102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4966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Invoice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07347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0E8B8B"/>
          </a:solidFill>
          <a:ln w="13970">
            <a:solidFill>
              <a:srgbClr val="0E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2211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Payment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2231136"/>
            <a:ext cx="108630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231136"/>
            <a:ext cx="73152" cy="713232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2340864"/>
            <a:ext cx="1058875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Commercial order is confirmed in Sales → physical stock movement is handled by Inventory → billing and settlement are handled by Invoicing/Accounting.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" y="3154680"/>
            <a:ext cx="5541264" cy="2642616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1430">
            <a:solidFill>
              <a:srgbClr val="D6DEE7"/>
            </a:solidFill>
            <a:prstDash val="solid"/>
          </a:ln>
          <a:effectLst>
            <a:outerShdw blurRad="12700" dist="50800" dir="2700000" algn="bl" rotWithShape="0">
              <a:srgbClr val="AAB5C1">
                <a:alpha val="14000"/>
              </a:srgbClr>
            </a:outerShdw>
          </a:effectLst>
        </p:spPr>
      </p:sp>
      <p:pic>
        <p:nvPicPr>
          <p:cNvPr id="20" name="Image 0" descr="/mnt/data/9c82a41d-dd45-47f7-ab73-0d9fd67fcb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82112"/>
            <a:ext cx="5486400" cy="258775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58368" y="5833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Quotation: customer, 3 products, quantities, prices and GST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300216" y="3154680"/>
            <a:ext cx="5248656" cy="2642616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1430">
            <a:solidFill>
              <a:srgbClr val="D6DEE7"/>
            </a:solidFill>
            <a:prstDash val="solid"/>
          </a:ln>
          <a:effectLst>
            <a:outerShdw blurRad="12700" dist="50800" dir="2700000" algn="bl" rotWithShape="0">
              <a:srgbClr val="AAB5C1">
                <a:alpha val="14000"/>
              </a:srgbClr>
            </a:outerShdw>
          </a:effectLst>
        </p:spPr>
      </p:sp>
      <p:pic>
        <p:nvPicPr>
          <p:cNvPr id="23" name="Image 1" descr="/mnt/data/sales order(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182112"/>
            <a:ext cx="5193792" cy="258775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27648" y="5833872"/>
            <a:ext cx="5193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Sales Order: ordered vs delivered vs invoiced quantities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— Delivery, Invoice &amp; Payment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Evidence that the commercial workflow reached fulfillment and settlement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068123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20140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SALES EVIDENCE</a:t>
            </a:r>
            <a:endParaRPr lang="en-US" sz="900" dirty="0"/>
          </a:p>
        </p:txBody>
      </p:sp>
      <p:pic>
        <p:nvPicPr>
          <p:cNvPr id="7" name="Image 0" descr="/mnt/data/c8ece40c-b527-48f5-8dcd-7d0082860e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2" y="1380744"/>
            <a:ext cx="5596128" cy="2880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2976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Delivery Order created from Sales Order</a:t>
            </a:r>
            <a:endParaRPr lang="en-US" sz="950" dirty="0"/>
          </a:p>
        </p:txBody>
      </p:sp>
      <p:pic>
        <p:nvPicPr>
          <p:cNvPr id="10" name="Image 1" descr="/mnt/data/customer invo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136" y="1339596"/>
            <a:ext cx="5230368" cy="2880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4297680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Customer Invoice with invoice lines and GST</a:t>
            </a:r>
            <a:endParaRPr lang="en-US" sz="950" dirty="0"/>
          </a:p>
        </p:txBody>
      </p:sp>
      <p:pic>
        <p:nvPicPr>
          <p:cNvPr id="13" name="Image 2" descr="/mnt/data/pay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475988"/>
            <a:ext cx="5596128" cy="17190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" y="6236208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Customer payment registered — status Paid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355080" y="4917057"/>
            <a:ext cx="5230368" cy="862642"/>
          </a:xfrm>
          <a:prstGeom prst="roundRect">
            <a:avLst>
              <a:gd name="adj" fmla="val 3191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10528" y="4572000"/>
            <a:ext cx="4956048" cy="1554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Key concepts: quotation vs sales order • ordered vs delivered quantity • delivery order • customer invoice • payment status.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Purchase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From vendor RFQ to vendor payment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PURCHASE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RFQ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45613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0477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Purchase Order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32858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7722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Receipt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0102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4966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Vendor Bill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07347" y="1325880"/>
            <a:ext cx="2114093" cy="694944"/>
          </a:xfrm>
          <a:prstGeom prst="roundRect">
            <a:avLst>
              <a:gd name="adj" fmla="val 10526"/>
            </a:avLst>
          </a:prstGeom>
          <a:solidFill>
            <a:srgbClr val="0E8B8B"/>
          </a:solidFill>
          <a:ln w="13970">
            <a:solidFill>
              <a:srgbClr val="0E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2211" y="1481328"/>
            <a:ext cx="20043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Payment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" y="2276856"/>
            <a:ext cx="5495544" cy="2523744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11430">
            <a:solidFill>
              <a:srgbClr val="D6DEE7"/>
            </a:solidFill>
            <a:prstDash val="solid"/>
          </a:ln>
          <a:effectLst>
            <a:outerShdw blurRad="12700" dist="50800" dir="2700000" algn="bl" rotWithShape="0">
              <a:srgbClr val="AAB5C1">
                <a:alpha val="14000"/>
              </a:srgbClr>
            </a:outerShdw>
          </a:effectLst>
        </p:spPr>
      </p:sp>
      <p:pic>
        <p:nvPicPr>
          <p:cNvPr id="17" name="Image 0" descr="/mnt/data/4cf5ddfe-1de2-4c9a-9930-22660b0afe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04288"/>
            <a:ext cx="5440680" cy="2468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" y="4837176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Request for Quotation — vendor and product quantities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54496" y="2276856"/>
            <a:ext cx="5358384" cy="2523744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11430">
            <a:solidFill>
              <a:srgbClr val="D6DEE7"/>
            </a:solidFill>
            <a:prstDash val="solid"/>
          </a:ln>
          <a:effectLst>
            <a:outerShdw blurRad="12700" dist="50800" dir="2700000" algn="bl" rotWithShape="0">
              <a:srgbClr val="AAB5C1">
                <a:alpha val="14000"/>
              </a:srgbClr>
            </a:outerShdw>
          </a:effectLst>
        </p:spPr>
      </p:sp>
      <p:pic>
        <p:nvPicPr>
          <p:cNvPr id="20" name="Image 1" descr="/mnt/data/6703251e-a3da-498b-a4f2-f4b8606a94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304288"/>
            <a:ext cx="5303520" cy="2468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81928" y="483717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Purchase Order — confirmed quantities and receipt/vendor bill links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58368" y="5074920"/>
            <a:ext cx="10927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8368" y="5074920"/>
            <a:ext cx="73152" cy="676656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3816" y="5184648"/>
            <a:ext cx="10652760" cy="5120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Purchase integrates with Inventory through receipts and with Accounting through vendor bills and payments.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Purchase — Receipt, Bill &amp; Payment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Proof of completed procurement 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59045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PURCHASE EVIDENCE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307592"/>
            <a:ext cx="5614416" cy="2962656"/>
          </a:xfrm>
          <a:prstGeom prst="roundRect">
            <a:avLst>
              <a:gd name="adj" fmla="val 1543"/>
            </a:avLst>
          </a:prstGeom>
          <a:solidFill>
            <a:srgbClr val="FFFFFF"/>
          </a:solidFill>
          <a:ln w="11430">
            <a:solidFill>
              <a:srgbClr val="D6DEE7"/>
            </a:solidFill>
            <a:prstDash val="solid"/>
          </a:ln>
          <a:effectLst>
            <a:outerShdw blurRad="12700" dist="50800" dir="2700000" algn="bl" rotWithShape="0">
              <a:srgbClr val="AAB5C1">
                <a:alpha val="14000"/>
              </a:srgbClr>
            </a:outerShdw>
          </a:effectLst>
        </p:spPr>
      </p:sp>
      <p:pic>
        <p:nvPicPr>
          <p:cNvPr id="7" name="Image 0" descr="/mnt/data/eefbcaa9-21d5-43c6-9a7c-0eacdf67aa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35024"/>
            <a:ext cx="5559552" cy="2907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306824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Validated receipt — status Done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27648" y="1307592"/>
            <a:ext cx="5285232" cy="2962656"/>
          </a:xfrm>
          <a:prstGeom prst="roundRect">
            <a:avLst>
              <a:gd name="adj" fmla="val 1543"/>
            </a:avLst>
          </a:prstGeom>
          <a:solidFill>
            <a:srgbClr val="FFFFFF"/>
          </a:solidFill>
          <a:ln w="11430">
            <a:solidFill>
              <a:srgbClr val="D6DEE7"/>
            </a:solidFill>
            <a:prstDash val="solid"/>
          </a:ln>
          <a:effectLst>
            <a:outerShdw blurRad="12700" dist="50800" dir="2700000" algn="bl" rotWithShape="0">
              <a:srgbClr val="AAB5C1">
                <a:alpha val="14000"/>
              </a:srgbClr>
            </a:outerShdw>
          </a:effectLst>
        </p:spPr>
      </p:sp>
      <p:pic>
        <p:nvPicPr>
          <p:cNvPr id="10" name="Image 1" descr="/mnt/data/a0548ab2-24f7-4ef3-8ad7-d0579045f3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35024"/>
            <a:ext cx="5230368" cy="2907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4306824"/>
            <a:ext cx="5230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Vendor Bill — posted and linked to Purchase Order</a:t>
            </a:r>
            <a:endParaRPr lang="en-US" sz="950" dirty="0"/>
          </a:p>
        </p:txBody>
      </p:sp>
      <p:pic>
        <p:nvPicPr>
          <p:cNvPr id="13" name="Image 2" descr="/mnt/data/5d5d4be4-a14e-4e36-a101-f771abab4b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562856"/>
            <a:ext cx="5559552" cy="1527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" y="605332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Vendor payment — status Paid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327648" y="4899804"/>
            <a:ext cx="5230368" cy="741871"/>
          </a:xfrm>
          <a:prstGeom prst="roundRect">
            <a:avLst>
              <a:gd name="adj" fmla="val 3593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10528" y="4572000"/>
            <a:ext cx="4956048" cy="1362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A37"/>
                </a:solidFill>
              </a:rPr>
              <a:t>Key concepts: RFQ vs Purchase Order • vendor selection • product receipt • vendor bill • payment • Purchase/Inventory integration.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Stock position and movement across Sales and Purchase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29284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INVENTORY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307592"/>
            <a:ext cx="11073384" cy="347472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1430">
            <a:solidFill>
              <a:srgbClr val="D6DEE7"/>
            </a:solidFill>
            <a:prstDash val="solid"/>
          </a:ln>
          <a:effectLst>
            <a:outerShdw blurRad="12700" dist="50800" dir="2700000" algn="bl" rotWithShape="0">
              <a:srgbClr val="AAB5C1">
                <a:alpha val="14000"/>
              </a:srgbClr>
            </a:outerShdw>
          </a:effectLst>
        </p:spPr>
      </p:sp>
      <p:pic>
        <p:nvPicPr>
          <p:cNvPr id="7" name="Image 0" descr="/mnt/data/b7c24856-71fd-4de3-9e6b-3e6466ba08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35024"/>
            <a:ext cx="11018520" cy="34198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818888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Product list showing Sales Price, Cost, On Hand and Forecasted quantities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1520" y="5084064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4992624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</a:rPr>
              <a:t>On-hand quantity shows current physical stock recorded by Odoo.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5468112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5376672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</a:rPr>
              <a:t>Forecasted quantity reflects expected future availability after planned incoming/outgoing moves.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5852160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5760720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</a:rPr>
              <a:t>Sales deliveries reduce stock; purchase receipts increase stock.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6236208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6144768"/>
            <a:ext cx="10579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</a:rPr>
              <a:t>Basic lot/serial tracking links traceability to individual batches or units where configured.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&amp; Task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Practical setup completed in Odoo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101679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52144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</a:t>
            </a:r>
            <a:endParaRPr lang="en-US" sz="900" dirty="0"/>
          </a:p>
        </p:txBody>
      </p:sp>
      <p:pic>
        <p:nvPicPr>
          <p:cNvPr id="7" name="Image 0" descr="/mnt/data/a2523b37-bfa7-4495-aa52-461ad0f7f7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325880"/>
            <a:ext cx="10257670" cy="2331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3225417"/>
            <a:ext cx="5413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Project created: Odoo Internship Assessment</a:t>
            </a:r>
            <a:endParaRPr lang="en-US" sz="950" dirty="0"/>
          </a:p>
        </p:txBody>
      </p:sp>
      <p:pic>
        <p:nvPicPr>
          <p:cNvPr id="10" name="Image 1" descr="/mnt/data/cb8a341d-fb5b-4d22-b5ea-e17bc8521f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" y="3515610"/>
            <a:ext cx="10236333" cy="2331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7187" y="5737602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Three tasks with assignees and stages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71A236-A3B7-2F66-E956-35311BD1C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2214"/>
            <a:ext cx="8785338" cy="3840224"/>
          </a:xfrm>
          <a:prstGeom prst="rect">
            <a:avLst/>
          </a:prstGeom>
        </p:spPr>
      </p:pic>
      <p:sp>
        <p:nvSpPr>
          <p:cNvPr id="5" name="Text 9">
            <a:extLst>
              <a:ext uri="{FF2B5EF4-FFF2-40B4-BE49-F238E27FC236}">
                <a16:creationId xmlns:a16="http://schemas.microsoft.com/office/drawing/2014/main" id="{C793167C-94C1-67CC-DCB9-72DCD567AE1B}"/>
              </a:ext>
            </a:extLst>
          </p:cNvPr>
          <p:cNvSpPr/>
          <p:nvPr/>
        </p:nvSpPr>
        <p:spPr>
          <a:xfrm>
            <a:off x="594360" y="6044184"/>
            <a:ext cx="10981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37083"/>
                </a:solidFill>
              </a:rPr>
              <a:t>Task detail: assignees, deadline, description and completed stage</a:t>
            </a:r>
            <a:endParaRPr lang="en-US" sz="95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A2BB1F6E-307A-5906-0033-412F65A03CB1}"/>
              </a:ext>
            </a:extLst>
          </p:cNvPr>
          <p:cNvSpPr/>
          <p:nvPr/>
        </p:nvSpPr>
        <p:spPr>
          <a:xfrm>
            <a:off x="621792" y="6044184"/>
            <a:ext cx="10972800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DA68FB0B-DB7C-5F84-44D1-AEFC545509A1}"/>
              </a:ext>
            </a:extLst>
          </p:cNvPr>
          <p:cNvSpPr/>
          <p:nvPr/>
        </p:nvSpPr>
        <p:spPr>
          <a:xfrm>
            <a:off x="621792" y="6044184"/>
            <a:ext cx="73152" cy="301752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4AD15F8E-C804-3195-4E0D-5CDBEB878E6D}"/>
              </a:ext>
            </a:extLst>
          </p:cNvPr>
          <p:cNvSpPr/>
          <p:nvPr/>
        </p:nvSpPr>
        <p:spPr>
          <a:xfrm>
            <a:off x="777240" y="6153912"/>
            <a:ext cx="1069848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A37"/>
                </a:solidFill>
              </a:rPr>
              <a:t>Demonstrated: project vs task • task assignment • deadlines • task stages • basic completion tracking.</a:t>
            </a:r>
            <a:endParaRPr lang="en-US" sz="102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41A2ADB2-7E16-80CF-C946-FBEB5C471400}"/>
              </a:ext>
            </a:extLst>
          </p:cNvPr>
          <p:cNvSpPr/>
          <p:nvPr/>
        </p:nvSpPr>
        <p:spPr>
          <a:xfrm>
            <a:off x="1946810" y="4302166"/>
            <a:ext cx="5376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37083"/>
                </a:solidFill>
              </a:rPr>
              <a:t>Task created with assignees deadline and project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35446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Odoo Modules Connect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One integrated business process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8176" y="1490472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586484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CRM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0982" y="1490472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4799" y="1645920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Sales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67605" y="1479430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5702" y="1644022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Inventory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40219" y="1490472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0411" y="1618488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Invoicing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58553" y="1490472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0E8B8B"/>
          </a:solidFill>
          <a:ln w="13970">
            <a:solidFill>
              <a:srgbClr val="0E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6842" y="1481328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Payment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76704" y="2331720"/>
            <a:ext cx="0" cy="960120"/>
          </a:xfrm>
          <a:prstGeom prst="line">
            <a:avLst/>
          </a:prstGeom>
          <a:noFill/>
          <a:ln w="25400">
            <a:solidFill>
              <a:srgbClr val="0E8B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19114" y="2331720"/>
            <a:ext cx="0" cy="960120"/>
          </a:xfrm>
          <a:prstGeom prst="line">
            <a:avLst/>
          </a:prstGeom>
          <a:noFill/>
          <a:ln w="25400">
            <a:solidFill>
              <a:srgbClr val="0E8B8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81955" y="2331720"/>
            <a:ext cx="0" cy="960120"/>
          </a:xfrm>
          <a:prstGeom prst="line">
            <a:avLst/>
          </a:prstGeom>
          <a:noFill/>
          <a:ln w="25400">
            <a:solidFill>
              <a:srgbClr val="0E8B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" y="3429000"/>
            <a:ext cx="108813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429000"/>
            <a:ext cx="73152" cy="932688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538728"/>
            <a:ext cx="10607040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</a:rPr>
              <a:t>CRM manages potential business. Sales confirms the customer order. Inventory fulfills it through delivery. Invoicing records the customer receivable. Payment settles the receivable.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" y="4828032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983480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Purchase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49270" y="4828032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04134" y="4983480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Receipt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40173" y="4828032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5037" y="4983480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Inventory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31075" y="4828032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5939" y="4983480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Vendor Bill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21978" y="4828032"/>
            <a:ext cx="2117750" cy="658368"/>
          </a:xfrm>
          <a:prstGeom prst="roundRect">
            <a:avLst>
              <a:gd name="adj" fmla="val 11111"/>
            </a:avLst>
          </a:prstGeom>
          <a:solidFill>
            <a:srgbClr val="0E8B8B"/>
          </a:solidFill>
          <a:ln w="13970">
            <a:solidFill>
              <a:srgbClr val="0E8B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76842" y="4983480"/>
            <a:ext cx="20080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Vendor Payment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5650992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" y="5650992"/>
            <a:ext cx="73152" cy="512064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" y="5760720"/>
            <a:ext cx="10607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</a:rPr>
              <a:t>Purchase reverses the direction: procurement creates an incoming receipt, increases stock, generates a vendor payable, and ends with payment.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Practical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083"/>
                </a:solidFill>
              </a:rPr>
              <a:t>Prompting, improving the prompt, and interview preparation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3504" y="1108322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147572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3504" y="1360558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153B5C"/>
          </a:solidFill>
          <a:ln w="12700">
            <a:solidFill>
              <a:srgbClr val="153B5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196" y="1405502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 1 — Initial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691640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691640"/>
            <a:ext cx="73152" cy="1078992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801368"/>
            <a:ext cx="5120640" cy="9144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Explain the complete Odoo Sales workflow from quotation creation to customer payment. Explain each step in simple language and mention how Sales, Inventory, Delivery, Invoicing and Accounting are connected.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1325880"/>
            <a:ext cx="1627632" cy="256032"/>
          </a:xfrm>
          <a:prstGeom prst="roundRect">
            <a:avLst>
              <a:gd name="adj" fmla="val 21429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1072" y="136245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 2 — Improved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91072" y="1700784"/>
            <a:ext cx="53492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691640"/>
            <a:ext cx="73152" cy="1389888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1801368"/>
            <a:ext cx="5074920" cy="1225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</a:rPr>
              <a:t>I am preparing for an Odoo Functional Consultant interview. Explain the complete Odoo Sales workflow step-by-step using Quotation → Sales Order → Delivery Order → Delivery Validation → Customer Invoice → Payment Registration. For each step, explain the purpose, important information, status change and effect on Inventory and Accounting. Present the answer in a clear table followed by a simple real-world example.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090672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7357A6"/>
          </a:solidFill>
          <a:ln w="12700">
            <a:solidFill>
              <a:srgbClr val="7357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27248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 3 — Interview Questions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3456432"/>
            <a:ext cx="5394960" cy="978408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456432"/>
            <a:ext cx="73152" cy="978408"/>
          </a:xfrm>
          <a:prstGeom prst="rect">
            <a:avLst/>
          </a:prstGeom>
          <a:solidFill>
            <a:srgbClr val="7357A6"/>
          </a:solidFill>
          <a:ln w="12700">
            <a:solidFill>
              <a:srgbClr val="7357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566160"/>
            <a:ext cx="5120640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Create five Odoo Functional Consultant interview questions covering CRM, Sales, Purchase, Inventory and Invoicing. Provide concise model answers and include practical scenario-based questions.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6208" y="3090672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153B5C"/>
          </a:solidFill>
          <a:ln w="12700">
            <a:solidFill>
              <a:srgbClr val="153B5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3127248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 observed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36208" y="3547872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456432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The improved prompt produced a more structured, interview-friendly response.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36208" y="3931920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840480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The AI output was checked against the actual Odoo Sales workflow I performed.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36208" y="4315968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224528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AI was useful for learning, summarizing and generating practice questions.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" y="4892040"/>
            <a:ext cx="10927080" cy="713232"/>
          </a:xfrm>
          <a:prstGeom prst="roundRect">
            <a:avLst>
              <a:gd name="adj" fmla="val 7692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892040"/>
            <a:ext cx="73152" cy="71323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" y="5001768"/>
            <a:ext cx="1065276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</a:rPr>
              <a:t>Key lesson: better prompts give clearer answers; important Odoo guidance still needs verification.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900" b="0"/>
              <a:t>16</a:t>
            </a:fld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Verification &amp; Responsible 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083"/>
                </a:solidFill>
              </a:rPr>
              <a:t>Using AI as an assistant — not as an unquestionable source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10642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38428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325880"/>
            <a:ext cx="2331720" cy="256032"/>
          </a:xfrm>
          <a:prstGeom prst="roundRect">
            <a:avLst>
              <a:gd name="adj" fmla="val 21429"/>
            </a:avLst>
          </a:prstGeom>
          <a:solidFill>
            <a:srgbClr val="D35F5F"/>
          </a:solidFill>
          <a:ln w="12700">
            <a:solidFill>
              <a:srgbClr val="D35F5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62456"/>
            <a:ext cx="2221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Odoo Problem Used for Verification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00784"/>
            <a:ext cx="5413248" cy="868680"/>
          </a:xfrm>
          <a:prstGeom prst="roundRect">
            <a:avLst>
              <a:gd name="adj" fmla="val 6316"/>
            </a:avLst>
          </a:prstGeom>
          <a:solidFill>
            <a:srgbClr val="FFF2F2"/>
          </a:solidFill>
          <a:ln w="12700">
            <a:solidFill>
              <a:srgbClr val="FFF2F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700784"/>
            <a:ext cx="73152" cy="868680"/>
          </a:xfrm>
          <a:prstGeom prst="rect">
            <a:avLst/>
          </a:prstGeom>
          <a:solidFill>
            <a:srgbClr val="D35F5F"/>
          </a:solidFill>
          <a:ln w="12700">
            <a:solidFill>
              <a:srgbClr val="D35F5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810512"/>
            <a:ext cx="513892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Delivery Order showed “Product Availability: Not Available”. I asked AI what could cause this and what to check.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44834" y="1317254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99698" y="1353830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Suggested Checks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44834" y="1783598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00784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On-hand quantity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4834" y="2167646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84832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Forecasted quantity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4834" y="2551694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468880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Stock movements / reservations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44834" y="2935742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852928"/>
            <a:ext cx="5184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Incoming receipts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36208" y="3328416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236976"/>
            <a:ext cx="19840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Warehouse / source location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303580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53B5C"/>
          </a:solidFill>
          <a:ln w="12700">
            <a:solidFill>
              <a:srgbClr val="153B5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072384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My Verification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3410712"/>
            <a:ext cx="73152" cy="804672"/>
          </a:xfrm>
          <a:prstGeom prst="rect">
            <a:avLst/>
          </a:prstGeom>
          <a:solidFill>
            <a:srgbClr val="153B5C"/>
          </a:solidFill>
          <a:ln w="12700">
            <a:solidFill>
              <a:srgbClr val="153B5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438144"/>
            <a:ext cx="4977385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I compared the AI suggestion with my actual Inventory and Delivery screens. The workflow and stock checks were relevant to the “Not Available” message observed in the demo.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" y="4599432"/>
            <a:ext cx="2240280" cy="256032"/>
          </a:xfrm>
          <a:prstGeom prst="roundRect">
            <a:avLst>
              <a:gd name="adj" fmla="val 21429"/>
            </a:avLst>
          </a:prstGeom>
          <a:solidFill>
            <a:srgbClr val="7357A6"/>
          </a:solidFill>
          <a:ln w="12700">
            <a:solidFill>
              <a:srgbClr val="7357A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636008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Do Not Share with Public AI 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5056632"/>
            <a:ext cx="82296" cy="82296"/>
          </a:xfrm>
          <a:prstGeom prst="ellipse">
            <a:avLst/>
          </a:prstGeom>
          <a:solidFill>
            <a:srgbClr val="7357A6"/>
          </a:solidFill>
          <a:ln w="12700">
            <a:solidFill>
              <a:srgbClr val="7357A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965192"/>
            <a:ext cx="5230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Passwords / API keys / tokens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" y="5440680"/>
            <a:ext cx="82296" cy="82296"/>
          </a:xfrm>
          <a:prstGeom prst="ellipse">
            <a:avLst/>
          </a:prstGeom>
          <a:solidFill>
            <a:srgbClr val="7357A6"/>
          </a:solidFill>
          <a:ln w="12700">
            <a:solidFill>
              <a:srgbClr val="7357A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349240"/>
            <a:ext cx="5230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Confidential customer or employee data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" y="5824728"/>
            <a:ext cx="82296" cy="82296"/>
          </a:xfrm>
          <a:prstGeom prst="ellipse">
            <a:avLst/>
          </a:prstGeom>
          <a:solidFill>
            <a:srgbClr val="7357A6"/>
          </a:solidFill>
          <a:ln w="12700">
            <a:solidFill>
              <a:srgbClr val="7357A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733288"/>
            <a:ext cx="5230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Private financial or contractual information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" y="6208776"/>
            <a:ext cx="82296" cy="82296"/>
          </a:xfrm>
          <a:prstGeom prst="ellipse">
            <a:avLst/>
          </a:prstGeom>
          <a:solidFill>
            <a:srgbClr val="7357A6"/>
          </a:solidFill>
          <a:ln w="12700">
            <a:solidFill>
              <a:srgbClr val="7357A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6117336"/>
            <a:ext cx="5230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Proprietary code or internal business documents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36208" y="4599432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46360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Verification Rule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4965192"/>
            <a:ext cx="5349240" cy="987552"/>
          </a:xfrm>
          <a:prstGeom prst="roundRect">
            <a:avLst>
              <a:gd name="adj" fmla="val 5556"/>
            </a:avLst>
          </a:prstGeom>
          <a:solidFill>
            <a:srgbClr val="FFF8E7"/>
          </a:solidFill>
          <a:ln w="12700">
            <a:solidFill>
              <a:srgbClr val="FFF8E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4965192"/>
            <a:ext cx="73152" cy="987552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1656" y="5074920"/>
            <a:ext cx="5074920" cy="8229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</a:rPr>
              <a:t>Verify important AI-generated information against the actual Odoo environment, official Odoo documentation, or another trusted source.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900" b="0"/>
              <a:t>17</a:t>
            </a:fld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B8549671-A132-A89E-ECAC-94E81EFCB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458" y="1475045"/>
            <a:ext cx="3438442" cy="431024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66928" y="384048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53B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&amp; What I Learned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23571" y="17739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37083"/>
                </a:solidFill>
              </a:rPr>
              <a:t>Key takeaways from the five-day assessment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152144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1362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REFLECTION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81328"/>
            <a:ext cx="3429000" cy="109728"/>
          </a:xfrm>
          <a:prstGeom prst="rect">
            <a:avLst/>
          </a:prstGeom>
          <a:solidFill>
            <a:srgbClr val="D35F5F"/>
          </a:solidFill>
          <a:ln w="12700">
            <a:solidFill>
              <a:srgbClr val="D35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92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53B5C"/>
                </a:solidFill>
              </a:rPr>
              <a:t>Challenges Faced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395728"/>
            <a:ext cx="82296" cy="82296"/>
          </a:xfrm>
          <a:prstGeom prst="ellipse">
            <a:avLst/>
          </a:prstGeom>
          <a:solidFill>
            <a:srgbClr val="D35F5F"/>
          </a:solidFill>
          <a:ln w="12700">
            <a:solidFill>
              <a:srgbClr val="D35F5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30428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Understanding how modules are connected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779776"/>
            <a:ext cx="82296" cy="82296"/>
          </a:xfrm>
          <a:prstGeom prst="ellipse">
            <a:avLst/>
          </a:prstGeom>
          <a:solidFill>
            <a:srgbClr val="D35F5F"/>
          </a:solidFill>
          <a:ln w="12700">
            <a:solidFill>
              <a:srgbClr val="D35F5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688336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Following status changes from draft to confirmed/paid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163824"/>
            <a:ext cx="82296" cy="82296"/>
          </a:xfrm>
          <a:prstGeom prst="ellipse">
            <a:avLst/>
          </a:prstGeom>
          <a:solidFill>
            <a:srgbClr val="D35F5F"/>
          </a:solidFill>
          <a:ln w="12700">
            <a:solidFill>
              <a:srgbClr val="D35F5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072384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Tracking inventory after Sales and Purchase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547872"/>
            <a:ext cx="82296" cy="82296"/>
          </a:xfrm>
          <a:prstGeom prst="ellipse">
            <a:avLst/>
          </a:prstGeom>
          <a:solidFill>
            <a:srgbClr val="D35F5F"/>
          </a:solidFill>
          <a:ln w="12700">
            <a:solidFill>
              <a:srgbClr val="D35F5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45643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Interpreting Odoo screens and terminology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53128" y="1481328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Shape 16"/>
          <p:cNvSpPr/>
          <p:nvPr/>
        </p:nvSpPr>
        <p:spPr>
          <a:xfrm>
            <a:off x="4453128" y="1481328"/>
            <a:ext cx="3429000" cy="109728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92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53B5C"/>
                </a:solidFill>
              </a:rPr>
              <a:t>What I Learned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17720" y="2395728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30428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CRM pipeline and opportunity management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779776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688336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End-to-end Sales and Purchase workflows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163824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3072384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Inventory quantities and stock movements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3547872"/>
            <a:ext cx="82296" cy="82296"/>
          </a:xfrm>
          <a:prstGeom prst="ellipse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3456432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</a:rPr>
              <a:t>Project tasks, AI prompting and responsible verification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" y="5989320"/>
            <a:ext cx="10927080" cy="329184"/>
          </a:xfrm>
          <a:prstGeom prst="roundRect">
            <a:avLst>
              <a:gd name="adj" fmla="val 16667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5989320"/>
            <a:ext cx="73152" cy="329184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 rot="10800000" flipV="1">
            <a:off x="8483907" y="1812039"/>
            <a:ext cx="2720541" cy="22229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Overall lesson:</a:t>
            </a:r>
          </a:p>
          <a:p>
            <a:pPr marL="0" indent="0">
              <a:buNone/>
            </a:pPr>
            <a:endParaRPr lang="en-US" sz="1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rgbClr val="1F2A37"/>
                </a:solidFill>
              </a:rPr>
              <a:t>Odoo is valuable because it connects business functions in one system; strong functional understanding comes from practicing the complete workflow, not memorizing isolated screens.</a:t>
            </a:r>
            <a:endParaRPr lang="en-US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8E002B4-5EDB-72A7-779F-907DD2682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486079"/>
            <a:ext cx="3438442" cy="1219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4E5F3"/>
                </a:solidFill>
              </a:rPr>
              <a:t>A five-day practical journey from business process understanding to workflow execution and AI-assisted learning.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1722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944368"/>
            <a:ext cx="161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CRM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26792" y="2788920"/>
            <a:ext cx="1722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1656" y="2944368"/>
            <a:ext cx="161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Sales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2064" y="2788920"/>
            <a:ext cx="1722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6928" y="2944368"/>
            <a:ext cx="161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Inventory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17336" y="2788920"/>
            <a:ext cx="1722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944368"/>
            <a:ext cx="161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Purchase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12608" y="2788920"/>
            <a:ext cx="17221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C6D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67472" y="2944368"/>
            <a:ext cx="161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</a:rPr>
              <a:t>Invoicing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07880" y="2788920"/>
            <a:ext cx="1722120" cy="621792"/>
          </a:xfrm>
          <a:prstGeom prst="roundRect">
            <a:avLst>
              <a:gd name="adj" fmla="val 11765"/>
            </a:avLst>
          </a:prstGeom>
          <a:solidFill>
            <a:srgbClr val="0E8B8B"/>
          </a:solidFill>
          <a:ln w="13970">
            <a:solidFill>
              <a:srgbClr val="0E8B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62744" y="2944368"/>
            <a:ext cx="161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8138160" cy="1060704"/>
          </a:xfrm>
          <a:prstGeom prst="roundRect">
            <a:avLst>
              <a:gd name="adj" fmla="val 5172"/>
            </a:avLst>
          </a:prstGeom>
          <a:solidFill>
            <a:srgbClr val="1D4C6F"/>
          </a:solidFill>
          <a:ln w="12700">
            <a:solidFill>
              <a:srgbClr val="1D4C6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840480"/>
            <a:ext cx="73152" cy="1060704"/>
          </a:xfrm>
          <a:prstGeom prst="rect">
            <a:avLst/>
          </a:prstGeom>
          <a:solidFill>
            <a:srgbClr val="0E8B8B"/>
          </a:solidFill>
          <a:ln w="12700">
            <a:solidFill>
              <a:srgbClr val="0E8B8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950208"/>
            <a:ext cx="7863840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 can now explain the purpose of each major Odoo step, trace how a transaction moves across modules, and use AI to support learning while verifying important information.</a:t>
            </a:r>
          </a:p>
        </p:txBody>
      </p:sp>
      <p:sp>
        <p:nvSpPr>
          <p:cNvPr id="20" name="Shape 18"/>
          <p:cNvSpPr/>
          <p:nvPr/>
        </p:nvSpPr>
        <p:spPr>
          <a:xfrm>
            <a:off x="9144000" y="3730752"/>
            <a:ext cx="2395728" cy="1298448"/>
          </a:xfrm>
          <a:prstGeom prst="roundRect">
            <a:avLst>
              <a:gd name="adj" fmla="val 8451"/>
            </a:avLst>
          </a:prstGeom>
          <a:solidFill>
            <a:srgbClr val="214F72"/>
          </a:solidFill>
          <a:ln w="12700">
            <a:solidFill>
              <a:srgbClr val="4A76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4041648"/>
            <a:ext cx="1993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70% Functional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20% AI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10% Development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8978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84B"/>
                </a:solidFill>
              </a:rPr>
              <a:t>Thank you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708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1302</Words>
  <Application>Microsoft Office PowerPoint</Application>
  <PresentationFormat>Widescreen</PresentationFormat>
  <Paragraphs>218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Arindam Enterprise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Odoo Functional, AI &amp; Development Internship Assessment</dc:title>
  <dc:subject>Odoo Internship Assessment</dc:subject>
  <dc:creator>Arindam Das</dc:creator>
  <cp:lastModifiedBy>Arindam Das</cp:lastModifiedBy>
  <cp:revision>2</cp:revision>
  <dcterms:created xsi:type="dcterms:W3CDTF">2026-08-16T21:25:19Z</dcterms:created>
  <dcterms:modified xsi:type="dcterms:W3CDTF">2026-08-17T08:33:57Z</dcterms:modified>
</cp:coreProperties>
</file>